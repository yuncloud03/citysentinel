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【0:00–0:08】自我介紹＋一句主張。不要念封面，只說：我們做的是城市應變 AI 指揮中樞，核心主張是 AI 不下命令，AI 讓指揮官在 90 秒內做出敢負責的決定。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【0:08–0:33】快速念三個斷點，強調三個都不是資料問題是決策問題。右邊職責切分只講一句：確定性引擎判定、LLM 只生文、人保有決策權。最後那句「會影響行動的數字不能出自機率模型」要停頓一下，這是全場的地基。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【0:33–0:53】這頁是給評審對表的。不要逐條念，說：官方要的五個模組我們全部做完，而且每一個都有測試守著。手指快速掃過五列，停在右邊的「已完成」標籤。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【0:53–1:33】切到監控頁實機操作。邊拉時間軸邊說：門檻是程式算的、摘要是 LLM 寫的。彈窗跳出來後點開一次判定依據，讓評審看到原始數據列。這裡不要講太多，讓畫面說話。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【1:33–2:28】全場最重要的 55 秒。先注入事故，看 60 秒內路線出來；接著拉時間軸到 T+30，讓評審看到替代道路被改道車流染紅、建議路線自己改變。最後開決策沙盒，刻意跑出「壅塞轉移」那句判定 — 停頓，說：市府最怕只報喜的系統，我們的系統會主動承認自己方案的副作用。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【2:28–3:03】三塊各講一句：為什麼判 A 級（附原始資料列）、為什麼排除那條路（附理由代碼）、ETE 怎麼算出 90 分鐘。重點台詞：LLM 在這一頁只做一件事，把公式讀成人話，它碰不到任何一個數字。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【3:03–3:48】真的邀請評審出題，這是 35% 主題切合度的直球。若現場網路不穩，改用預設題目並說明：LLM 不可用時會自動退回確定性回答，Demo 不會死 — 這本身也是賣點。強調引用條號來自工具軌跡。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【3:48–4:13】快速帶過。重點兩句：一是四語由 LLM 生成但有數字不變性檢查，二是民眾端依裝置語言自動切換。最後強調發布必經核准。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【4:13–4:38】左右兩欄對比念得快一點，重點是右邊那欄「絕不交給 LLM」。三道護欄只講第一道：如果 LLM 改了數字，我們的程式會抓到並退回樣板。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【4:38–4:58】念得快。重點只有一句：五份資料全部用上，而且我們把清理過程和資料的缺陷都公開了，包括一處命名不一致。誠實本身就是分數。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【4:58–5:16】手指沿著七個步驟劃過去，只停在第五格「核准」，說：這是唯一需要人的地方，而我們刻意讓它非人不可。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【5:16–5:44】老實講：這是部署規劃，目前跑在本機同一組容器。重點講兩個 AWS 原生的好處 — Bedrock 直接換掉外部 LLM，以及 IAM 把我們程式裡的邊界再鎖一次。不要逐格念服務名。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【5:44–6:00】不要念交付清單，說：三份東西現在就可以驗。然後把界線那段講完 — 主動承認限制，並把它轉成階段二的合作理由。最後一句金句收尾，停頓，結束。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731520"/>
            <a:ext cx="5486400" cy="548640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A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371600"/>
            <a:ext cx="4206240" cy="420624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C3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1965960"/>
            <a:ext cx="3017520" cy="301752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0E43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514600"/>
            <a:ext cx="1920240" cy="1920240"/>
          </a:xfrm>
          <a:prstGeom prst="ellipse">
            <a:avLst/>
          </a:prstGeom>
          <a:solidFill>
            <a:srgbClr val="0E1012"/>
          </a:solidFill>
          <a:ln w="12700">
            <a:solidFill>
              <a:srgbClr val="1052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8592" y="3364992"/>
            <a:ext cx="219456" cy="219456"/>
          </a:xfrm>
          <a:prstGeom prst="ellipse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33558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 · 信義計畫區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雲湧智生 · 臺灣生成式 AI 應用黑客松｜中華電信命題：城市應變分析 AI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CitySentinel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城市應變 AI 智慧指揮中樞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" y="3611880"/>
            <a:ext cx="45720" cy="960120"/>
          </a:xfrm>
          <a:prstGeom prst="rect">
            <a:avLst/>
          </a:prstGeom>
          <a:solidFill>
            <a:srgbClr val="007AFC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不下命令，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51560" y="40965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讓指揮官在 90 秒內做出敢負責的決定。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決賽簡報 · 6 分鐘｜交付：提案簡報 · Live Demo 部署網址與錄影 · GitHub 原始碼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解題方向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問題不在資料不足，在決策沒有依據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81328"/>
            <a:ext cx="45720" cy="713232"/>
          </a:xfrm>
          <a:prstGeom prst="rect">
            <a:avLst/>
          </a:prstGeom>
          <a:solidFill>
            <a:srgbClr val="E5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819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資料看得到，但不知道會怎樣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監控畫面只呈現此刻，沒有事態推演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22576"/>
            <a:ext cx="45720" cy="713232"/>
          </a:xfrm>
          <a:prstGeom prst="rect">
            <a:avLst/>
          </a:prstGeom>
          <a:solidFill>
            <a:srgbClr val="E5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23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方案下得出，但不知道副作用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7066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疏導了這條，壅塞轉去哪裡沒人算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63824"/>
            <a:ext cx="45720" cy="713232"/>
          </a:xfrm>
          <a:prstGeom prst="rect">
            <a:avLst/>
          </a:prstGeom>
          <a:solidFill>
            <a:srgbClr val="E54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644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決定做了，但說不清依據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547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事後檢討無法還原當時的判斷鏈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481328"/>
            <a:ext cx="5212080" cy="2450592"/>
          </a:xfrm>
          <a:prstGeom prst="roundRect">
            <a:avLst>
              <a:gd name="adj" fmla="val 3358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664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我們的職責切分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2057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確定性引擎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判定與計算 — 規則、路線、ETE、調度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514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只做模糊理解與文字生成，不做判定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狀態機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32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控制流程，11 步全程留痕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7532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保有最終決策權，發布前必經核准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為什麼這樣切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431596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因為要能被稽核。凡是會影響行動的數字，都不能出自機率模型 — 這是整套系統所有設計的唯一理由。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官方命題：打造具「自動感知」與「互動決策」能力的智慧交通指揮系統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命題核心功能模組 × 本系統實作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官方要求的五個模組，全部落地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07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7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591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動態時序監測儀表板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8836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時間軸逐格重播 · 六條 SOP 規則自動判定 · 命中即彈窗，門檻由程式算、摘要由 LLM 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12680" y="17190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1012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12680" y="1719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59152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5968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7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突發事件注入與處置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7797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事件注入介面 · 端到端 60 秒內完成路網重規劃 · 重規劃為程式運算、導引文字由 LLM 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12680" y="261518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1012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268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493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7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對話式策略諮詢顧問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6758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Tool-Calling Agent 七個唯讀工具 · What-if 沙盒 · SOP 邏輯驗證由 LLM 判斷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12680" y="351129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1012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3511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151376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3891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7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4279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決策推理與解釋鏈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07008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分級判定附數據佐證 · 排除替代道路附理由代碼 · ETE 公式攤開，LLM 僅解釋結果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12680" y="44074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1012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12680" y="4407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047488"/>
            <a:ext cx="11064240" cy="768096"/>
          </a:xfrm>
          <a:prstGeom prst="roundRect">
            <a:avLst>
              <a:gd name="adj" fmla="val 10714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" y="528523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07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285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07008" y="5175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多語化全通路通報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07008" y="5468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漫遊比率 ≥ 30% 自動偵測 · 中英日韓四語告警 · 民眾端依裝置語言自動切換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12680" y="53035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1012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0" y="5303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五個模組皆有自動化測試覆蓋：後端 137 項、前端 10 項，全數通過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 ① · 核心模組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時間軸一拉，系統自己就叫了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門檻判定由程式運算，摘要由 LLM 生成，整個過程無需人工介入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程式負責的部分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飽和度 ≥ 0.85 → B 級壅塞；≥ 0.95 → A 級壅塞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51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捷運出站 5 分鐘增幅 ≥ 30% 且人數 ≥ 25,000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大巨蛋人數 ≥ 30,000；散場判定 5 分鐘 ≤ −20%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漫遊比率 ≥ 30% 觸發多語通報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838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六條規則在每一格快照上重新判定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負責的部分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把已經算出來的判定結果，寫成指揮官讀得懂的一段預警摘要。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743200"/>
            <a:ext cx="4846320" cy="1051560"/>
          </a:xfrm>
          <a:prstGeom prst="roundRect">
            <a:avLst>
              <a:gd name="adj" fmla="val 7826"/>
            </a:avLst>
          </a:prstGeom>
          <a:solidFill>
            <a:srgbClr val="0E1012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880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「信義路二段飽和度 0.91，已達 B 級壅塞門檻，預估 20 分鐘內延伸至南京東路。建議提前啟動替代道路引導。」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現場操作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3708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拉時間軸 → 飽和度爬過 0.85 → 警報自動彈出 → 點開看到判定依據與原始數據列，全程沒有人按任何按鈕。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對應評分：技術可行性 35%（分級判定是否符合 SOP 條件）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 ② · 核心模組 2 · 全場核心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注入事故 60 秒內，重規劃完成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路網重規劃為程式運算，導引文字由 LLM 生成 — 而且我們多做了一件事：事態會隨時間惡化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85800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928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8836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事件注入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189280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信義路二段路面塌陷 · Critical · 引用 SOP 第 2 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685800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51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25420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候選篩選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5511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排除容量 &lt; 1000 vph 與非直接相鄰路段，附理由代碼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685800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95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路線產出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6080" y="320954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上游最低飽和度者為主要路線，其餘為次要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6858000" cy="566928"/>
          </a:xfrm>
          <a:prstGeom prst="roundRect">
            <a:avLst>
              <a:gd name="adj" fmla="val 14516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679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T+30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858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事態惡化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38679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改道負載實際加到替代道路，路線自己換了一條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80960" y="1737360"/>
            <a:ext cx="3931920" cy="1883664"/>
          </a:xfrm>
          <a:prstGeom prst="roundRect">
            <a:avLst>
              <a:gd name="adj" fmla="val 4369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1883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超出命題要求的部分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事件影響隨時間爬升（30 分鐘 0.55→1.0）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0956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改道車流真的壓上替代道路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09560" y="30083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在壓力測試後的路網上重算路線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0" y="3749040"/>
            <a:ext cx="3931920" cy="1170432"/>
          </a:xfrm>
          <a:prstGeom prst="roundRect">
            <a:avLst>
              <a:gd name="adj" fmla="val 7031"/>
            </a:avLst>
          </a:prstGeom>
          <a:solidFill>
            <a:srgbClr val="15171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895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決策沙盒會說實話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09560" y="4206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「需調整：目標路段改善，但壅塞可能轉移到其他道路。」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370832"/>
            <a:ext cx="6858000" cy="548640"/>
          </a:xfrm>
          <a:prstGeom prst="roundRect">
            <a:avLst>
              <a:gd name="adj" fmla="val 15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5171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端到端延遲實測 · 事件注入 → 畫面更新完成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20640" y="4480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遠低於 60 秒上限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對應評分：技術可行性 35%（SOP 引用正確 · 替代路徑避開事故路段與容量有限路段）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核心模組 4 · AI 決策推理與解釋鏈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每個數字旁邊，都附著它的公式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為什麼判 A 級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飽和度 0.96 ≥ 0.95 → SOP 第 1 條 A 級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佐證資料列：RD_TPE_002 · 18:30 · 車速 8.4 km/h · 車流 2,140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規則歸因分三類：事件造成 / 背景既有 / 計算用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為什麼排除那條替代道路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CAPACITY_BELOW_1000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承載量低於 1000 vph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2037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NOT_DIRECT_INTERSECTION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0" y="2203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非事故路口直接相鄰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532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UNKNOWN_SEGMENT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0" y="2532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路網中查無此路段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ETE 預估交通恢復時間 — 公式全部攤開，LLM 只負責把它讀成人話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7673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基礎清除時間(Critical) 60 分　＋　壅塞懲罰 max(0, (平均飽和度 − 0.5) × 60)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60 + max(0, (0.998 − 0.5) × 60)  =  90 </a:t>
            </a:r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49440" y="4224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所有引擎常數可經 /api/provenance 查詢，連同資料集 SHA256 一併公開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對應評分：技術可行性 35%｜白盒承諾：判定、排除、計算三者全部可追溯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 ③ · 核心模組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請評審現場出題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自主決定要查哪些工具，答案裡的 SOP 條號來自呼叫軌跡，不是它自己說的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2743200"/>
          </a:xfrm>
          <a:prstGeom prst="roundRect">
            <a:avLst>
              <a:gd name="adj" fmla="val 3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示範提問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0E1012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「若 BL17 人數增至 40,000 人，該啟動什麼？」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工具呼叫軌跡（畫面上會逐步展開）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</a:t>
            </a:r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get_crowd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讀取 BL17 當前人流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</a:t>
            </a:r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run_what_if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沙盒代入 40,000 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</a:t>
            </a:r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get_sop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檢索命中的 SOP 條款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回答：命中 SOP 第 3 條 → 啟動過站不停與接駁分流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691640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847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為什麼這是真的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七個唯讀工具 · 迴圈上限五輪 · 由 LLM 自主決定呼叫順序，引用條號從軌跡推導而非採信自述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3154680"/>
            <a:ext cx="5120640" cy="1280160"/>
          </a:xfrm>
          <a:prstGeom prst="roundRect">
            <a:avLst>
              <a:gd name="adj" fmla="val 6429"/>
            </a:avLst>
          </a:prstGeom>
          <a:solidFill>
            <a:srgbClr val="15171B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310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越權在物理上不可能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3657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工具清單裡不存在「發布」「派遣」「核准」— 這是物理邊界，不是靠提示詞約束。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智慧指揮官特質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26080" y="4754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不是等你問才答 — 資料一觸及門檻，系統主動彈出預警；顧問對話是補充，不是入口。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對應評分：主題切合度 35%（互動問答能否正確解讀提問並精準引用 SOP 條款）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核心模組 5 · 多語化全通路通報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漫遊比率一超標，四語告警同時就緒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自動偵測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956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漫遊用戶數 ÷ 該站點總容量 ≥ 30%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由程式判定，非 LLM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0" y="146304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057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數字不變性檢查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English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057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數字不變性檢查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日本語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2057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數字不變性檢查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75520" y="146304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한국어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0" y="2057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生成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0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數字不變性檢查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民眾端：像地震告警一樣自動跳出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5844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依手機系統語言自動切換對應語言，不需要民眾自己選；疏散範圍內的門號才會收到。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279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外籍旅客與觀光客不會因為看不懂而錯過疏散指示。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306324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發布必經人工核准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844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草稿 → 待審 → 核准 → 派送 → 送達確認 / 失敗 → 重試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3977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可以草擬告警，但沒有任何路徑可以把它自己發出去。派送失敗會自動重試，並在畫面上留下送達狀態。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對應評分：商業應用性 10%（多國語言 · 訊息完整 · 可讀性）＋ 加分 5%（中英以外語言）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AI 技術應用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LLM 只做它不會出錯的事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F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交給 LLM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模糊語意理解（自然語言 What-if）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預警摘要與導引文字生成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多語告警翻譯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解釋已算出的判定與公式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15171B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81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絕不交給 LLM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SOP 分級與門檻判定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2350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替代路線選擇與排除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27340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ETE 數值計算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31181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資源調度與發布動作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三道防幻覺護欄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必含字串檢查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44622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生成文字若未原樣包含路名、ETE 數字、時間戳，直接退回確定性樣板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Schema 驗證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26080" y="4846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後端結構化輸出經 JSON Schema 驗證，前端再經 Zod 驗證才進入 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230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工具允許清單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26080" y="5230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只有唯讀工具，寫入類工具在程式中根本不存在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模型可替換：Amazon Bedrock（Claude）為主 · 相容 API 為備援 · 兩者皆不可用時退回確定性樣板，Demo 不中斷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數據資料應用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五份官方資料，全部用上且公開雜湊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512064"/>
          </a:xfrm>
          <a:prstGeom prst="roundRect">
            <a:avLst>
              <a:gd name="adj" fmla="val 1607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08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city_traffic_flow.csv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0" y="15087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核心路段即時車速、車數、飽和度 → 壅塞分級與 ETE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7223760" cy="512064"/>
          </a:xfrm>
          <a:prstGeom prst="roundRect">
            <a:avLst>
              <a:gd name="adj" fmla="val 1607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112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signaling_crowd_density.csv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21122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電信用戶數與漫遊比率 → 人流異常與多語通報觸發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7223760" cy="512064"/>
          </a:xfrm>
          <a:prstGeom prst="roundRect">
            <a:avLst>
              <a:gd name="adj" fmla="val 1607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15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road_network_geometry.json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路段連結、承載容量、替代路線 → 路網重規劃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7223760" cy="512064"/>
          </a:xfrm>
          <a:prstGeom prst="roundRect">
            <a:avLst>
              <a:gd name="adj" fmla="val 1607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9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emergency_traffic_sop.txt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3319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官方交通應變指引 → 六條規則引擎與條款引用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7223760" cy="512064"/>
          </a:xfrm>
          <a:prstGeom prst="roundRect">
            <a:avLst>
              <a:gd name="adj" fmla="val 16071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227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live_incidents.json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39227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當晚突發災情 → 事件注入與處置流程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資料清理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753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漫遊比率「40%」字串 → 數值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2240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utf-8-sig 編碼與時間格式統一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2606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路網換版即重跑驗證並公開 SHA256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24612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自行補充的官方圖資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5320" y="37307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臺北市 GIS：號誌 47 處 · 人行道 19,643 筆 · 資訊可變標誌 178 面 · 醫院點位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7223760" cy="658368"/>
          </a:xfrm>
          <a:prstGeom prst="roundRect">
            <a:avLst>
              <a:gd name="adj" fmla="val 125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8/2 主辦方更新路網檔，我們當天換版並重跑全套比對：15 個路段、3 筆事件，決策輸出零變動。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 SHA256 與所有引擎常數可經 /api/provenance 端點即時查詢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使用者流程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指揮官的 90 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系統主動彈出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984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49424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 + 信心分數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附數據佐證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21024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67328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58768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 · ETE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調度建議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30368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76672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68112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沙盒推演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含副作用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39712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86016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C1F24"/>
          </a:solidFill>
          <a:ln w="12700">
            <a:solidFill>
              <a:srgbClr val="007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77456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指揮官按下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49056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95360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0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四語告警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派送與確認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228600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204704" y="1737360"/>
            <a:ext cx="1463040" cy="1508760"/>
          </a:xfrm>
          <a:prstGeom prst="roundRect">
            <a:avLst>
              <a:gd name="adj" fmla="val 5625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04704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296144" y="230428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決策軌跡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唯一的人工閘門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3840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前四步系統全自動完成並把依據攤在桌上；第五步一定要人按。之後兩步再度自動化，但全程留痕。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846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六個操作頁面：總覽（3D 地球）· 指揮艙 · 監控 · 可驗證性 · 顧問對話 · 民眾手機模擬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對應評分：完成度 20%（功能完整 · 使用體驗良好流暢）＋ 加分 5%（外觀直觀性與設計性）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AWS 架構圖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上雲路徑：同一組容器，換一個家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133856"/>
          </a:xfrm>
          <a:prstGeom prst="roundRect">
            <a:avLst>
              <a:gd name="adj" fmla="val 725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接入層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1517904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609344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Kinesis Data Streams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車流／信令串流接入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1517904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609344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S3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官方資料集與快照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（版本 + SHA256）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58200" y="1517904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609344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IoT 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號誌與 CMS 設備介接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64240" cy="1133856"/>
          </a:xfrm>
          <a:prstGeom prst="roundRect">
            <a:avLst>
              <a:gd name="adj" fmla="val 725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540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65960" y="2816352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9077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Fargate + ALB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 確定性引擎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816352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9077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Bedrock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— 僅生成文字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58200" y="2816352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9077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事件狀態 · 決策軌跡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ElastiCache 時間軸快取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64240" cy="1133856"/>
          </a:xfrm>
          <a:prstGeom prst="roundRect">
            <a:avLst>
              <a:gd name="adj" fmla="val 725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525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65960" y="4114800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206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CloudFront + S3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指揮儀表板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4114800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4206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Amazon SNS / Pinpoint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多語告警派送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58200" y="4114800"/>
            <a:ext cx="3063240" cy="841248"/>
          </a:xfrm>
          <a:prstGeom prst="roundRect">
            <a:avLst>
              <a:gd name="adj" fmla="val 9783"/>
            </a:avLst>
          </a:prstGeom>
          <a:solidFill>
            <a:srgbClr val="1C1F24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42062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 + OpenSearch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六類日誌與稽核查詢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49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落實邊界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26080" y="5449824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執行角色不具備 SNS 發布與設備控制權限 — 程式裡「工具不存在」的邊界，上雲後由 IAM policy 再鎖一次。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現況：同一組容器已在本機以 Docker 化前後端運行並通過全部測試；上表為對應的 AWS 部署規劃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完成度與交付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三份交付，現在就可以驗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5720" cy="777240"/>
          </a:xfrm>
          <a:prstGeom prst="rect">
            <a:avLst/>
          </a:prstGeom>
          <a:solidFill>
            <a:srgbClr val="2FBF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原始碼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184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完整專案 · 後端 137 項 + 前端 10 項測試全數通過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45720" cy="777240"/>
          </a:xfrm>
          <a:prstGeom prst="rect">
            <a:avLst/>
          </a:prstGeom>
          <a:solidFill>
            <a:srgbClr val="2FBF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 部署網址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5328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六個頁面 · 44 個 API 端點 · 可現場操作與提問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5171B"/>
          </a:solidFill>
          <a:ln w="12700">
            <a:solidFill>
              <a:srgbClr val="23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91840"/>
            <a:ext cx="45720" cy="777240"/>
          </a:xfrm>
          <a:prstGeom prst="rect">
            <a:avLst/>
          </a:prstGeom>
          <a:solidFill>
            <a:srgbClr val="2FBF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錄製影片連結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完整流程演示，含事件注入與方案比較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C1F24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我們沒有把限制藏起來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AB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目前是確定性推演，不是校準過的微觀交通模型。校準需要貴方的歷史事件資料 — 介面已經留好，這是階段二的工作。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285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不下命令，AI 讓指揮官在 90 秒內做出敢負責的決定。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CitySentinel · 城市應變 AI 智慧指揮中樞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2026-08-01T20:38:46Z</dcterms:created>
  <dcterms:modified xsi:type="dcterms:W3CDTF">2026-08-01T20:38:46Z</dcterms:modified>
</cp:coreProperties>
</file>