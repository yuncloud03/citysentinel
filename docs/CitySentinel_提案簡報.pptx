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開場：我們不是做一個會聊天的交通機器人，而是一套可以被稽核的城市指揮系統。今天要證明三件事：判定準確、決策可驗證、指揮官保有最終權力。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這頁是全場唯一必須記住的一頁。三個差異化直接對應評審最愛問的三個問題：AI 會不會亂講？我憑什麼相信它？出事了誰負責？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痛點對主張，一一對應。這頁確立我們不是在做功能堆疊，而是在解決可信度問題。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如果評審只問一個問題「你們的 AI 會不會亂決策」，答案就在這一頁：它沒有那個權限，工具清單裡根本沒有執行類工具。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這頁讓評審打勾用。每一項都能當場叫出畫面驗證。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這是全場最關鍵的一頁。評審可以拿命題資料自己算一次，數字必須一模一樣。排除理由是代碼化的，不是文字描述。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這頁回答「你怎麼確定 LLM 不會唬爛數字」。答案是：我們不相信它，我們檢查它。而且攔截紀錄本身就是展示素材。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如果被問「這到底算不算 Agent」——工具軌跡是即時顯示在畫面上的，可以當場請評審出題看它自己選工具。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這頁是給稽核與法遵看的。公部門標案最在意的就是「事後說得清楚」。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版本權威性這點特別重要——它證明我們真的讀懂了資料，而不是隨便挑一份用。這是資料工程的基本功。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使用者流程是官方指定必備章節。重點是「人一直在迴圈裡」。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這頁順便回答「為什麼不用單一色系」——因為安全系統的可讀性優先於美學純度。這是專業判斷，不是妥協。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這頁展示的是「指揮官感」。系統不會假裝資源夠，也不會自作主張搶資源——它把選擇權交給人，但把選項算好。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民眾端是全場最有畫面的部分。Demo 時把手機模擬開在第二視窗，核准通報的瞬間切過去看警報跳出來。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架構重點：LLM 是可替換元件，不是單點依賴。這對公部門採購很重要——不會被單一模型供應商綁死。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完成度 20% 的評分靠這頁。重點是「可重現」——不是我說它會動，是測試證明它會動。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節奏控制在 90 秒內，留時間給提問。最後一段刻意留白讓評審出題，展示 Agent 的自主性。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收尾：不要承諾我們做不到的。誠實說明現況與延伸路線，比誇大更能建立信任。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640080"/>
            <a:ext cx="5577840" cy="557784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A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280160"/>
            <a:ext cx="4297680" cy="429768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C3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1874520"/>
            <a:ext cx="3108960" cy="310896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E43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0" y="2423160"/>
            <a:ext cx="2011680" cy="201168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1052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71432" y="3319272"/>
            <a:ext cx="219456" cy="219456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3310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 · 信義計畫區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雲湧智生 · 臺灣生成式 AI 應用黑客松｜中華電信命題：城市應變分析 AI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CitySentinel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城市應變 AI 智慧指揮中樞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7223760" cy="475488"/>
          </a:xfrm>
          <a:prstGeom prst="roundRect">
            <a:avLst>
              <a:gd name="adj" fmla="val 19231"/>
            </a:avLst>
          </a:prstGeom>
          <a:solidFill>
            <a:srgbClr val="0A1F33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033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確定性引擎判定　·　LLM 解釋與對話　·　每個決策都能被質疑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77240" y="5367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官方模組全交付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651760" y="5367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526280" y="5367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通報語言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15s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400800" y="5367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端到端應變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一頁看懂：我們交付了什麼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五大必要模組全數落地，並在三個評審最常追問的面向上建立了難以複製的優勢。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官方模組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5968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全數可現場操作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26280" y="2359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5968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邊界全覆蓋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91856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7,100+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47888" y="2359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程式行數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47888" y="25968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前後端完整交付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92424"/>
            <a:ext cx="457200" cy="457200"/>
          </a:xfrm>
          <a:prstGeom prst="ellipse">
            <a:avLst/>
          </a:prstGeom>
          <a:solidFill>
            <a:srgbClr val="1C1F24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判定與生成徹底分離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282696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門檻、替代路徑、ETE 由程式運算；LLM 只負責解釋與多語文字。即使 LLM 全數失效，決策核心照常輸出完整處置。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1C1F24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417320" y="4343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每個決策都可被質疑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4334256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決策鏈、排除理由、資料 SHA256、引擎門檻常數全部開放查詢；指揮官可接受、調整或拒絕任一調度，覆寫全程留痕。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495544"/>
            <a:ext cx="457200" cy="457200"/>
          </a:xfrm>
          <a:prstGeom prst="ellipse">
            <a:avLst/>
          </a:prstGeom>
          <a:solidFill>
            <a:srgbClr val="1C1F24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417320" y="5394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閉環延伸到市民手機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0" y="5385816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通報須人工核准才能發布，送達／失敗／重試全程可見，並模擬民眾手機依裝置語言收到疏散指示。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解題方向 · PROBLEM FRAMING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城市應變的難題，不是「不會講話」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而是「講了不能信、信了不能查、查了不能改」。我們的設計從這三個缺口出發。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現場痛點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1A1315"/>
          </a:solidFill>
          <a:ln w="12700">
            <a:solidFill>
              <a:srgbClr val="3D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95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判定不可信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 LLM 產生的分級與路徑無法重現，同一情境兩次答案可能不同，不敢作為調度依據。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1A1315"/>
          </a:solidFill>
          <a:ln w="12700">
            <a:solidFill>
              <a:srgbClr val="3D22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93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責任不可追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044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只給一句建議，沒有輸入資料、觸發條款與排除理由，事後無法回答「為什麼這樣判」。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1A1315"/>
          </a:solidFill>
          <a:ln w="12700">
            <a:solidFill>
              <a:srgbClr val="3D22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處置不可控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2029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系統直接發布或直接派遣，指揮官被架空；資源衝突時只能先搶先贏。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我們的主張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295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程式判定、LLM 解釋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門檻、路徑篩選、ETE 全部由確定性引擎計算，結果可重算、可寫測試、可被評審手動驗算。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447288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593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決策鏈即證據鏈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9044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每一步保留輸入快照、觸發條款、候選與排除理由、公式明細；資料來源附 SHA256。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4745736"/>
            <a:ext cx="5303520" cy="1170432"/>
          </a:xfrm>
          <a:prstGeom prst="roundRect">
            <a:avLst>
              <a:gd name="adj" fmla="val 7031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人保有最終指揮權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520293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調度可接受／調整／拒絕，通報須核准才發布；高優先事件抽調資源亦需人工核准，雙邊留痕。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核心架構 · ARCHITECTURE 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決策層與諮詢層，雙軌分離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這是整套系統的設計靈魂：讓 AI 發揮語言能力，但不讓它碰判定與執行。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決策層　確定性引擎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不可觸碰　·　可重算　·　有測試覆蓋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578608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1–6 門檻判定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38728" y="2578608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Routing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2 疏散路徑篩選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2578608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ETE Calculator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3368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7 恢復時間公式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78824" y="2578608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3416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Dispatch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43416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資源調度與缺口回報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1A1206"/>
          </a:solidFill>
          <a:ln w="12700">
            <a:solidFill>
              <a:srgbClr val="4A3A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3931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安全邊界：LLM 的工具清單只有唯讀查詢與 Sandbox 模擬 — 發布通報、調度資源、核准動作的工具「不存在」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24528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616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諮詢層　LLM 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6725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自主選擇工具　·　唯讀權限　·　失敗自動降級模板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" y="5020056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5111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預警摘要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" y="5367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情勢分析自動生成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38728" y="5020056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5111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導引與多語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03320" y="5367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與中英日韓告警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08776" y="5020056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5111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73368" y="5367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自主查證後回答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78824" y="5020056"/>
            <a:ext cx="2487168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43416" y="5111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決策摘要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43416" y="5367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總司令一句話判定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設計原則：LLM 負責模糊理解與文字生成，程式負責確定性判定與計算，狀態機負責流程控制。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需求對照 · REQUIREMENT MAPPING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官方五大必要模組：逐項對照交付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每一列都可在現場 Demo 直接操作驗證，非簡報文字宣稱。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動態時序監測儀表板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8196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門檻由程式判定、摘要由 LLM 生成，無需人工介入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35240" y="1975104"/>
            <a:ext cx="237744" cy="237744"/>
          </a:xfrm>
          <a:prstGeom prst="ellipse">
            <a:avLst/>
          </a:prstGeom>
          <a:solidFill>
            <a:srgbClr val="0B2A18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28432" y="1819656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時序播放自動觸發預警彈窗，AI 情勢摘要自動載入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突發事件注入與處置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697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秒內完成路網重規劃，避開容量不足路段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2852928"/>
            <a:ext cx="237744" cy="237744"/>
          </a:xfrm>
          <a:prstGeom prst="ellipse">
            <a:avLst/>
          </a:prstGeom>
          <a:solidFill>
            <a:srgbClr val="0B2A18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28432" y="269748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實測端到端 &lt; 15 秒；容量 &lt;1000、非直接相交一律排除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47288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對話式策略諮詢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575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依假設條件檢索 SOP 並回答應觸發條款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35240" y="3730752"/>
            <a:ext cx="237744" cy="237744"/>
          </a:xfrm>
          <a:prstGeom prst="ellipse">
            <a:avLst/>
          </a:prstGeom>
          <a:solidFill>
            <a:srgbClr val="0B2A18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28432" y="3575304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Tool-Calling Agent 自主查證，Sandbox 驗證不動正式狀態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25112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581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572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決策推理與解釋鏈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44531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展示判定依據、排除理由與 ETE 公式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35240" y="4608576"/>
            <a:ext cx="237744" cy="237744"/>
          </a:xfrm>
          <a:prstGeom prst="ellipse">
            <a:avLst/>
          </a:prstGeom>
          <a:solidFill>
            <a:srgbClr val="0B2A18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4608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28432" y="445312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五階段決策鏈可展開；排除理由代碼化；公式全文可重算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202936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4589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54498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多語化全通路通報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40480" y="5330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漫遊率 ≥30% 自動產出多語告警供一鍵發布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5486400"/>
            <a:ext cx="237744" cy="237744"/>
          </a:xfrm>
          <a:prstGeom prst="ellipse">
            <a:avLst/>
          </a:prstGeom>
          <a:solidFill>
            <a:srgbClr val="0B2A18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5486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28432" y="533095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中英日韓 LLM 在地化生成，須人工核准才發布並追蹤送達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左：官方命題文件原文要求　　　右：本系統實作狀態（含實測數據）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技術可行性 · 決策邏輯準確性（評分佔比 35%）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以官方事件實算：每一步都能被驗算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 TPE_2026_ACC_001　光復南路路面塌陷　Closed／Critical　2026-05-20 22:10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74520"/>
            <a:ext cx="310896" cy="310896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取候選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2286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由事故路段 alternatives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 4 條，單向不反推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8608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88920" y="17373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74520"/>
            <a:ext cx="310896" cy="310896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篩容量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53512" y="2286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capacity_vph ≥ 1000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延吉街 600 → 排除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17373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3792" y="1874520"/>
            <a:ext cx="310896" cy="310896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驗相交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須出現在 intersections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敦化南路一段 → 排除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59168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69480" y="17373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874520"/>
            <a:ext cx="310896" cy="310896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1812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判上下游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34072" y="2286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flow_direction 排序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仁愛路四段在下游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99448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09760" y="173736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4352" y="1874520"/>
            <a:ext cx="310896" cy="310896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選最低飽和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74352" y="2286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上游候選比飽和度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市民大道四段 0.78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31012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處置結果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373075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主疏散　</a:t>
            </a:r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市民大道四段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（上游 · 容量 2500 · 飽和 0.78）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次要　　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仁愛路四段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（位於事故點下游，僅列次要）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　　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延吉街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CAPACITY_BELOW_1000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敦化南路一段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NOT_DIRECT_INTERSECTION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331012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ETE 計算（SOP 第 7 條）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37673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 = base_clearance + max(0, (avg_sat - 0.5) * 60)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60 + max(0, (1.00 - 0.5) * 60)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43159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90 分鐘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4864608"/>
            <a:ext cx="11064240" cy="1207008"/>
          </a:xfrm>
          <a:prstGeom prst="roundRect">
            <a:avLst>
              <a:gd name="adj" fmla="val 681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983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同一份結果，直接產出對外文字與可信度佐證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" y="52852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　「光復南路封閉，請改道 市民大道四段，預計延誤 90 分鐘」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5559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事件可信度　95%（高）　官方來源＋車速降至 2 km/h＋車道 Accident_Impact＋周邊人流異常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技術應用 · GENERATIVE AI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生文，程式驗數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官方明列三處須由 LLM 生成。我們全部接上真實模型，並用「必含 token 驗證」守住每一個數字。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官方模組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預警摘要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3591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門檻由程式判定後，LLM 生成情勢分析並自動彈出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0248" y="1719072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828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官方模組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導引文字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3591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 電子看板改道指示由 LLM 撰寫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1719072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828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官方模組 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47888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多語告警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7888" y="23591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中英日韓在地化生成，非逐字翻譯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Guardrail：文字可以創作，數字不容竄改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1A1315"/>
          </a:solidFill>
          <a:ln w="12700">
            <a:solidFill>
              <a:srgbClr val="3D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若改寫關鍵數值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「…請改道市民大道四段，預計延誤約一個半小時」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必含字串 ["90"] 未出現 → 整段棄用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517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自動退回確定性模板，UI 標示攔截原因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5204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四語數字不變性檢查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時間戳、路名、ETE 分鐘數必須原封不動出現在每一語言版本；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任一語言缺任一項 → 四語整包退回模板。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517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生成來源（LLM／模板）全程標示於 UI 與決策鏈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93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模型可替換 · 失敗不中斷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3583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同時支援 Amazon Bedrock（Claude）與 OpenAI，依環境變數自動切換；LLM 逾時或被 Guardrail 攔截時一律降級為確定性模板，事件流程永不失敗。每次呼叫的用途、模型、延遲、成敗全部寫入系統紀錄供稽核。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技術應用 · AGENTIC AI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諮詢層是真正的 Tool-Calling Agent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自主決定呼叫哪些工具、帶什麼參數、何時停止——而它能碰到的工具，全部是唯讀。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工具允許清單（唯讀 / Sandbox）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查條款原文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20574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get_incident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38728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查事件決策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20574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run_what_if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Sandbox 模擬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70264" y="20574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get_traffic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53144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查車流快照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70632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43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get_crowd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081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查人流快照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2770632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2843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get_resources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38728" y="3081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查資源庫存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63056" y="2770632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2843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get_confidence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3081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查可信度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06840" y="2770632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A1315"/>
          </a:solidFill>
          <a:ln w="12700">
            <a:solidFill>
              <a:srgbClr val="3D22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2843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 / 調度 / 核准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89720" y="3081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工具不存在 — 物理性邊界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675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實測軌跡：評審提問「如果 BL17 人數增加到 40000 人會怎樣？」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160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自主呼叫　run_what_if(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{at:"2026-05-20 22:00", crowd_overrides:{BS_MRT_BL17:{user_count:40000}}}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基準 [1,3,4,6] → 假設後 [1,3,4,6]　Sandbox 執行，正式狀態未修改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　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SOP 3 建議北捷過站不停、通知公車處調度接駁專車、引導群眾步行至 BS_MRT_BL18；該條款於基準狀態已觸發並持續適用。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5778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安全設計：迴圈上限 5 輪　·　引用條款由工具軌跡推導（不信任 LLM 自報）　·　每一步呼叫寫入稽核紀錄　·　工具軌跡即時顯示於對話介面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可驗證性 · WHITE-BOX BY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每個數字，都能被追問到底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不是「相信 AI」，而是「查核 AI」。三層證據任評審抽驗。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五階段可展開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決策依據與執行進度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09728" cy="109728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5420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事件驗證　來源數、可信度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255264"/>
            <a:ext cx="109728" cy="109728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455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影響評估　觸發條款、ETE 明細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858768"/>
            <a:ext cx="109728" cy="109728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方案規劃　候選、排除理由、SOP 原文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462272"/>
            <a:ext cx="109728" cy="109728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3525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資源與核准　派遣、人工覆寫紀錄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065776"/>
            <a:ext cx="109728" cy="109728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9560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通知與追蹤　多語內容、送達率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70248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來源可重算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資料佐證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44568" y="2651760"/>
            <a:ext cx="109728" cy="10972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25420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road_network SHA256 05FE3CAF…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44568" y="3255264"/>
            <a:ext cx="109728" cy="10972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31455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五份官方資料筆數全公開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44568" y="3858768"/>
            <a:ext cx="109728" cy="10972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引擎門檻常數全部開放查詢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44568" y="4462272"/>
            <a:ext cx="109728" cy="10972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43525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B/A 級 0.85 / 0.95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44568" y="5065776"/>
            <a:ext cx="109728" cy="10972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49560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容量門檻 1000 vph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91856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多源交叉驗證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47888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事件可信度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66176" y="265176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7344" y="25420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官方事件來源　+0.50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66176" y="325526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7344" y="31455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車速崩跌 2 km/h　+0.20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66176" y="385876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車道狀態相符　+0.15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66176" y="44622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43525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周邊人流異常　+0.10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66176" y="506577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67344" y="49560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95%（高）附完整證據句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870448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8704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人工覆寫全程留痕：指揮官調整或拒絕任一調度時，系統保留原始 AI 建議、操作者、理由與時間，兩份數字並存於稽核紀錄。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數據資料應用 · DATA UTILISATION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五份官方資料，全部進入決策路徑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沒有一份是裝飾用的展示資料——每一份都直接影響判定結果。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057400" cy="1481328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 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city_traffic_flow.csv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分級判定 · 路徑排序 · ETE 懲罰項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737360"/>
            <a:ext cx="2057400" cy="1481328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847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 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7180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signaling_crowd_density.csv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71800" y="26700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捷運分流 · 散場偵測 · 多語觸發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737360"/>
            <a:ext cx="2057400" cy="1481328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847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路段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1208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road_network_geometry.json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0" y="26700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候選來源 · 容量篩選 · 上下游判定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69480" y="1737360"/>
            <a:ext cx="2057400" cy="1481328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847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條規則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5236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emergency_traffic_sop.txt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52360" y="26700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門檻定義 · 條款檢索 · 引用驗證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1737360"/>
            <a:ext cx="2057400" cy="1481328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1847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事件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9264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live_incidents.json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92640" y="26700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事件注入 · 可信度基準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資料治理：先解決品質問題，才談 AI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822192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8679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版本權威性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43200" y="3877056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命題資料夾內有兩份路網檔，三條路段的 intersections 順序不同。因順序代表上游至下游、直接影響疏散判定，我們指定官方資料夾版為唯一來源並以 SHA256 標記，系統禁止讀取其他副本。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08576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65429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欄位清洗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43200" y="4663440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漫遊率為帶百分號字串（"40%"），載入時清洗為數值；時間統一解析為 datetime；CSV 以 utf-8-sig 讀取避免 BOM 汙染首欄。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44068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時間切面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743200" y="5449824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所有判定以「某時刻的最新快照」為準，車流與人流各自取該時點前最後一筆，確保跨資料源的時間一致性。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使用者流程 · OPERATIONAL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從偵測異常，到市民手機收到指示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指揮官在每一刻都清楚：現在發生什麼、哪裡受影響、系統為何這樣建議、我要做什麼決定。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自動監測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沿時間軸讀取車流與人流，程式判定 SOP 門檻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53412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0572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05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90572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事件建立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90572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計算多源可信度與影響範圍，進入事件佇列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6452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58184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5344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95344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地圖聚焦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95344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事故點擴散 pulse，受影響路段即時變色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21224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62956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0116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011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0116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方案生成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00116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路徑重規劃、ETE、資源需求一次算完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25996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67728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04888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0488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人工核准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04888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接受／調整／拒絕，可抽調低優先事件資源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30768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72500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9660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0966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096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通報發布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09660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四語內容核准後發送，追蹤送達與重試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035540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77272" y="1828800"/>
            <a:ext cx="1481328" cy="2103120"/>
          </a:xfrm>
          <a:prstGeom prst="roundRect">
            <a:avLst>
              <a:gd name="adj" fmla="val 555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14432" y="1975104"/>
            <a:ext cx="384048" cy="384048"/>
          </a:xfrm>
          <a:prstGeom prst="ellipse">
            <a:avLst/>
          </a:prstGeom>
          <a:solidFill>
            <a:srgbClr val="0A2942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1443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314432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民眾接收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314432" y="2761488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手機依裝置語言跳出疏散指示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41148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4233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Coordinator 決策摘要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2960" y="4517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系統為每個事件生成一句可讀的總司令判定，四段結構固定：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2960" y="47914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　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事故可信度 95%，光復南路全線封閉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　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改道市民大道四段，派遣警力 4 名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　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主疏散飽和度達 0.85 時啟動長綠燈並併行大眾運輸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　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2、SOP 7，ETE 90 分鐘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72200" y="41148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233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分級告警：搶注意力，不搶操作權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46520" y="4654296"/>
            <a:ext cx="128016" cy="128016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一般監測異常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86800" y="4572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 pulse + 告警摘要列，不遮擋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46520" y="511149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5029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需處置新事件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0" y="5029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右側事件快報卡滑出 + 自動聚焦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46520" y="5568696"/>
            <a:ext cx="128016" cy="12801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5486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資源缺口等重大風險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86800" y="5486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中央 modal，說明理由並要求決策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46520" y="59893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阻塞式 modal 僅保留給真正需要立即人工決策的情況。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設計 · 加分項目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指揮駕駛艙：一張常駐地圖，四個工作層級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指揮中心固定不捲動、地圖永遠在視線內；完整資料與稽核紀錄分流到專屬頁面，不干擾即時處置。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444752"/>
          </a:xfrm>
          <a:prstGeom prst="roundRect">
            <a:avLst>
              <a:gd name="adj" fmla="val 569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11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系統入口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48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4963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線框地球標示戰場座標，統計資料一眼掌握規模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783080"/>
            <a:ext cx="3520440" cy="1444752"/>
          </a:xfrm>
          <a:prstGeom prst="roundRect">
            <a:avLst>
              <a:gd name="adj" fmla="val 5696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11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現在要處理什麼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2148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指揮中心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4963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常駐地圖 · 城市狀態列 · 右側情境抽屜（事件／決策／通知／證據）· 底部時間條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91856" y="1783080"/>
            <a:ext cx="3520440" cy="1444752"/>
          </a:xfrm>
          <a:prstGeom prst="roundRect">
            <a:avLst>
              <a:gd name="adj" fmla="val 569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911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哪裡正在變差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47888" y="2148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監測中心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7888" y="24963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全路段與場站表格、飽和度趨勢圖、預警流、資源庫存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520440" cy="1444752"/>
          </a:xfrm>
          <a:prstGeom prst="roundRect">
            <a:avLst>
              <a:gd name="adj" fmla="val 569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決策依據是什麼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紀錄與驗證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40965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統一系統紀錄、事件可信度、資料佐證與引擎常數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0248" y="3383280"/>
            <a:ext cx="3520440" cy="1444752"/>
          </a:xfrm>
          <a:prstGeom prst="roundRect">
            <a:avLst>
              <a:gd name="adj" fmla="val 569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我可以問什麼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顧問對話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40965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Tool-Calling Agent 對話，工具軌跡即時顯示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91856" y="3383280"/>
            <a:ext cx="3520440" cy="1444752"/>
          </a:xfrm>
          <a:prstGeom prst="roundRect">
            <a:avLst>
              <a:gd name="adj" fmla="val 569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市民收到什麼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47888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7888" y="40965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PWS 風格手機模擬，依裝置語言顯示疏散指示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視覺語言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51760" y="5120640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近黑四層表面搭配單一操作藍（#007AFC），讓地圖成為畫面唯一光源；語意色刻意保留——紅為緊急、橘為注意、綠為已處置——因為災害指揮系統必須讓使用者一眼辨識嚴重程度。動效服務於理解：事件擴散 pulse、路段顏色平滑過渡、未讀預警低頻呼吸而非閃爍。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指揮能力 · RESOURCE ORCHESTRATION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會搶佔、會回填、可以被拒絕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真實指揮中心的資源永遠不夠。系統的價值不在假裝資源充足，而在把衝突攤開讓人決策。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65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優先權感知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每筆調度帶事件嚴重度優先級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Critical › High › Medium › 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865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缺口誠實回報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57016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資源不足時絕不標示任務完成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7016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回報缺口數量並要求人工升級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65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抽調需人工核准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僅允許高優先抽調低優先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64224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來源與目標雙邊寫入稽核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70264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8653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釋出自動回填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71432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拒絕或降級釋出的資源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71432" y="2688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依優先權回填其他事件缺口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實測情境：三起事件併發，警力總量 12 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307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松高路號誌故障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17520" y="3895344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1C1F24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8953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0" y="3730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路口 × 2 人 = 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光復南路塌陷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017520" y="455371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1C1F2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45537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23360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封鎖 2 + 淨空 2 = 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047488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0474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基隆路一段事故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017520" y="521208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1C1F2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52120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0" y="5047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 4 人，僅餘 2 → 缺口 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3730752"/>
            <a:ext cx="5440680" cy="1810512"/>
          </a:xfrm>
          <a:prstGeom prst="roundRect">
            <a:avLst>
              <a:gd name="adj" fmla="val 4545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系統提案，指揮官決策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4652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系統偵測缺口後主動提出：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「可抽調建議：自 TPE_2026_EVT_003（Medium）
抽調 2 單位，需指揮官核准」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 → 目標事件補滿、來源事件標記遭抽調並回報新缺口、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庫存守恆可驗算、雙邊稽核入鏈。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商業應用性 · 國際化與人性化（含日韓加分）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從指揮中心，一路閉環到市民手機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通報不只是「生成文字」，而是一條有核准、有送達、有重試的完整生命週期。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556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94560" y="179222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光復南路封閉，請改道 市民大道四段，預計延誤 90 分鐘。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English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94560" y="255117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Guangfu S. Rd. is closed. Please detour via Civic Blvd. Sec. 4. Expected delay: 90 minutes.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日本語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94560" y="3310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光復南路は通行止めです。市民大道四段へ迂回してください。予想遅延：約 90 分。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325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94560" y="406908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광복남로가 통제 중입니다. 시민대로 4단으로 우회하시기 바랍니다. 예상 지연: 약 90분.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四語皆由 LLM 在地化生成（非逐字翻譯），並經數字不變性檢查：時間戳與延誤分鐘數必須原樣出現在每一語言。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1755648"/>
            <a:ext cx="1965960" cy="3977640"/>
          </a:xfrm>
          <a:prstGeom prst="roundRect">
            <a:avLst>
              <a:gd name="adj" fmla="val 10233"/>
            </a:avLst>
          </a:prstGeom>
          <a:solidFill>
            <a:srgbClr val="000000"/>
          </a:solidFill>
          <a:ln w="25400">
            <a:solidFill>
              <a:srgbClr val="3339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103120"/>
            <a:ext cx="1691640" cy="1508760"/>
          </a:xfrm>
          <a:prstGeom prst="roundRect">
            <a:avLst>
              <a:gd name="adj" fmla="val 6061"/>
            </a:avLst>
          </a:prstGeom>
          <a:solidFill>
            <a:srgbClr val="18181B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1945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緊急警報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248716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光復南路封閉，請改道市民大道四段，預計延誤 90 分鐘。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33101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我知道了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依裝置語言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自動切換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469880" y="1755648"/>
            <a:ext cx="1143000" cy="3977640"/>
          </a:xfrm>
          <a:prstGeom prst="roundRect">
            <a:avLst>
              <a:gd name="adj" fmla="val 7200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61320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生命週期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88752" y="2267712"/>
            <a:ext cx="100584" cy="100584"/>
          </a:xfrm>
          <a:prstGeom prst="ellipse">
            <a:avLst/>
          </a:prstGeom>
          <a:solidFill>
            <a:srgbClr val="566171"/>
          </a:solidFill>
          <a:ln w="12700">
            <a:solidFill>
              <a:srgbClr val="566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4200" y="22128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草稿生成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588752" y="2743200"/>
            <a:ext cx="100584" cy="1005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44200" y="26883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待人工核准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588752" y="3218688"/>
            <a:ext cx="100584" cy="100584"/>
          </a:xfrm>
          <a:prstGeom prst="ellipse">
            <a:avLst/>
          </a:prstGeom>
          <a:solidFill>
            <a:srgbClr val="566171"/>
          </a:solidFill>
          <a:ln w="12700">
            <a:solidFill>
              <a:srgbClr val="566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44200" y="3163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已核准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588752" y="3694176"/>
            <a:ext cx="100584" cy="100584"/>
          </a:xfrm>
          <a:prstGeom prst="ellipse">
            <a:avLst/>
          </a:prstGeom>
          <a:solidFill>
            <a:srgbClr val="566171"/>
          </a:solidFill>
          <a:ln w="12700">
            <a:solidFill>
              <a:srgbClr val="566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44200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發送中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588752" y="4169664"/>
            <a:ext cx="100584" cy="1005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4200" y="41148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部分送達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588752" y="4645152"/>
            <a:ext cx="100584" cy="100584"/>
          </a:xfrm>
          <a:prstGeom prst="ellipse">
            <a:avLst/>
          </a:prstGeom>
          <a:solidFill>
            <a:srgbClr val="566171"/>
          </a:solidFill>
          <a:ln w="12700">
            <a:solidFill>
              <a:srgbClr val="566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45902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88752" y="5120640"/>
            <a:ext cx="100584" cy="100584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5065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全數確認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5413248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41324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關鍵設計：LLM 不能直接發布。通報生成後進入「待核准」，指揮官核准才會發送；失敗通道可單獨重試，送達率即時顯示。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部署架構 · AWS REFERENCE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部署架構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以託管服務為主，降低維運負擔；AI 推論走 Amazon Bedrock，資料與稽核紀錄留在客戶帳戶內。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5171B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288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· 靜態託管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2057400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214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S3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打包產物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724912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788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CloudFront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" y="3008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全球快取與 HTTPS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17373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5171B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288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應用層 · 容器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2057400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1214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App Runner / ECS Fargate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決策引擎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2724912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788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Gateway (WebSocket)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3008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即時推送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92440" y="17373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5171B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18288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推論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57032" y="2057400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21214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Bedrock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94192" y="2340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摘要 / 多語 / Agent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57032" y="2724912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2788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Guardrail 層（自建）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94192" y="3008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必含 token 驗證與降級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3584448"/>
            <a:ext cx="5513832" cy="1691640"/>
          </a:xfrm>
          <a:prstGeom prst="roundRect">
            <a:avLst>
              <a:gd name="adj" fmla="val 48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675888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資料與稽核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" y="3904488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39684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S3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" y="41879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原始資料集與版本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83280" y="3904488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9684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RDS (PostgreSQL)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20440" y="41879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事件狀態 / 決策紀錄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3232" y="4572000"/>
            <a:ext cx="5184648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4636008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Secrets Manager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0392" y="48554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模型金鑰與外部憑證集中管理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3584448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67588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排程與觀測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28232" y="3904488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968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EventBridge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65392" y="4187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時序播放 / 定時監測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025128" y="3904488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62288" y="3968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CloudWatch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162288" y="4187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延遲 / 錯誤 / 用量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28232" y="4572000"/>
            <a:ext cx="5065776" cy="566928"/>
          </a:xfrm>
          <a:prstGeom prst="roundRect">
            <a:avLst>
              <a:gd name="adj" fmla="val 14516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63600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 + IAM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65392" y="485546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存取控制與角色權限分離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431536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543153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設計考量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194560" y="5431536"/>
            <a:ext cx="9189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決策引擎為無狀態容器，可水平擴展；LLM 推論與決策運算解耦，模型故障不影響判定輸出；所有稽核資料留存於客戶 VPC 內的 RDS，符合公部門資料落地要求。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完成度 · ENGINEERING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可重現、可驗證、可交付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Demo 當天能跑就好，而是任何人 clone 下來都能重現同樣的結果。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280160"/>
          </a:xfrm>
          <a:prstGeom prst="roundRect">
            <a:avLst>
              <a:gd name="adj" fmla="val 6429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562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6334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全數通過 · 2.4 秒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737360"/>
            <a:ext cx="2606040" cy="1280160"/>
          </a:xfrm>
          <a:prstGeom prst="roundRect">
            <a:avLst>
              <a:gd name="adj" fmla="val 6429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8562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2395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端點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7016" y="26334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含決策鏈與稽核查詢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737360"/>
            <a:ext cx="2606040" cy="1280160"/>
          </a:xfrm>
          <a:prstGeom prst="roundRect">
            <a:avLst>
              <a:gd name="adj" fmla="val 6429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562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7,100+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64224" y="2395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程式行數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26334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3,394 / 後端 3,713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70264" y="1737360"/>
            <a:ext cx="2606040" cy="1280160"/>
          </a:xfrm>
          <a:prstGeom prst="roundRect">
            <a:avLst>
              <a:gd name="adj" fmla="val 6429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8562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15s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71432" y="2395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端到端延遲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71432" y="26334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含兩次 LLM 生成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18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測試覆蓋：官方測試案例逐項落地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639312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63931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規則引擎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965960" y="36667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分級邊界 0.84 / 0.85 / 0.95、BL17 門檻、漫遊 30%、大巨蛋雙條件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639312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363931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路徑引擎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9520" y="36667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 999 排除、非相交排除、下游不得為主疏散、壅塞仍保留並加註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352544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5254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ETE 計算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965960" y="437997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Critical+0.5=60、High+0.8=58、懲罰不為負、後端保留原值 UI 四捨五入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4352544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435254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調度彈性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0" y="437997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配置扣量、缺口回報、高搶低限制、雙邊稽核、釋出回填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065776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06577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護欄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965960" y="50932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數值竄改攔截、多語缺字攔截、編造 ID 拒絕、強制人工核准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5065776"/>
            <a:ext cx="5440680" cy="621792"/>
          </a:xfrm>
          <a:prstGeom prst="roundRect">
            <a:avLst>
              <a:gd name="adj" fmla="val 1323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506577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端到端場景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589520" y="50932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三起官方事件完整流程、What-if Sandbox 不汙染正式狀態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測試環境強制停用外部 LLM，確保結果確定性；LLM 行為由獨立的 mock 護欄測試覆蓋。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現場展示 · DEMO SCRIPT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秒，完整閉環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每一段都可由評審當場出題，非預錄流程。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7190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主動監測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74650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啟動時序播放，系統自動偵測忠孝東路進入 A 級，預警彈窗跳出並附 AI 情勢摘要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4086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3408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事件注入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36829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注入光復南路塌陷，地圖聚焦、事故點擴散、受影響路段轉紅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6265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9626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決策生成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99008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主疏散路徑、排除理由、ETE 90 分鐘、警力需求一次呈現，可展開查看證據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84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00:45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584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資源衝突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第三起 Critical 事件出現缺口，系統提出抽調建議，指揮官一鍵核准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06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2062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多語通報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233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四語內容生成後待核准，核准並發布，SMS 通道失敗後重試成功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28032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2803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8280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民眾接收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48554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切換至民眾端手機，警報依裝置語言跳出疏散指示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449824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44982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54498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評審提問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547725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顧問對話現場出題，Agent 自主呼叫工具查證後引用 SOP 條款回答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全程可暫停、可回放、可由評審指定任一時間點重跑；What-if 問答不影響正式狀態。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777240"/>
            <a:ext cx="5577840" cy="557784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A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1417320"/>
            <a:ext cx="4297680" cy="429768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C3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011680"/>
            <a:ext cx="3108960" cy="310896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E4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為什麼是我們 · WHY CITYSENTINEL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放在對的位置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讓語言模型做它擅長的事——理解與表達；讓程式做它必須負責的事——判定與計算；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讓指揮官做只有人能做的事——承擔決策。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8138160" cy="1051560"/>
          </a:xfrm>
          <a:prstGeom prst="roundRect">
            <a:avLst>
              <a:gd name="adj" fmla="val 7826"/>
            </a:avLst>
          </a:prstGeom>
          <a:solidFill>
            <a:srgbClr val="0C1A28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9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技術可行性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7706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判定、路徑篩選、ETE 全部可重算，105 項測試守住每一個邊界條件；資料來源附雜湊值，評審可自行驗算。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8138160" cy="1051560"/>
          </a:xfrm>
          <a:prstGeom prst="roundRect">
            <a:avLst>
              <a:gd name="adj" fmla="val 782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主題切合度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39410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系統主動監測並預警，而非被動等待查詢；Tool-Calling Agent 自主查證後引用條款回答，工具軌跡即時可見。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8138160" cy="1051560"/>
          </a:xfrm>
          <a:prstGeom prst="roundRect">
            <a:avLst>
              <a:gd name="adj" fmla="val 782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落地可行性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51114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推論可替換、稽核資料留在客戶帳戶、人工核准不可繞過——具備進入公部門正式環境的治理條件。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943600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0A1F33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94360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下一步：接入即時資料源、擴充至全市路網、加入跨災害調度（積水／地震／停電）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2026-07-30T15:22:43Z</dcterms:created>
  <dcterms:modified xsi:type="dcterms:W3CDTF">2026-07-30T15:22:43Z</dcterms:modified>
</cp:coreProperties>
</file>